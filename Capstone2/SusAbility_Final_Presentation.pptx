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7"/>
  </p:notesMasterIdLst>
  <p:sldIdLst>
    <p:sldId id="256" r:id="rId2"/>
    <p:sldId id="267" r:id="rId3"/>
    <p:sldId id="269" r:id="rId4"/>
    <p:sldId id="271" r:id="rId5"/>
    <p:sldId id="257" r:id="rId6"/>
    <p:sldId id="258" r:id="rId7"/>
    <p:sldId id="272" r:id="rId8"/>
    <p:sldId id="273" r:id="rId9"/>
    <p:sldId id="259" r:id="rId10"/>
    <p:sldId id="260" r:id="rId11"/>
    <p:sldId id="261" r:id="rId12"/>
    <p:sldId id="262" r:id="rId13"/>
    <p:sldId id="265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339" autoAdjust="0"/>
  </p:normalViewPr>
  <p:slideViewPr>
    <p:cSldViewPr snapToGrid="0" snapToObjects="1">
      <p:cViewPr varScale="1">
        <p:scale>
          <a:sx n="63" d="100"/>
          <a:sy n="63" d="100"/>
        </p:scale>
        <p:origin x="77" y="30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004E6B-A129-4031-8BCE-8C3F3B7455F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AD119F-2BB7-4B7F-88E0-7668D67EF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311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496b9aecd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496b9aecda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g496b9aecda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496b9aecd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496b9aecda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Probably combine these 2-3</a:t>
            </a:r>
            <a:endParaRPr dirty="0"/>
          </a:p>
        </p:txBody>
      </p:sp>
      <p:sp>
        <p:nvSpPr>
          <p:cNvPr id="97" name="Google Shape;97;g496b9aecda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496b9aecda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496b9aecda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496b9aecda_0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Combine 4 and 5</a:t>
            </a:r>
            <a:br>
              <a:rPr lang="en-US" dirty="0"/>
            </a:br>
            <a:r>
              <a:rPr lang="en-US" dirty="0"/>
              <a:t>Analyzes structural metadata, citations, authorship, and publisher credibility.</a:t>
            </a:r>
          </a:p>
          <a:p>
            <a:pPr lvl="1"/>
            <a:r>
              <a:rPr lang="en-US" dirty="0"/>
              <a:t>Compares content against a topic-classified database (Scientific, Political, etc.).</a:t>
            </a:r>
          </a:p>
          <a:p>
            <a:pPr lvl="1"/>
            <a:r>
              <a:rPr lang="en-US" dirty="0"/>
              <a:t>Displays results through visual sliders and dashboard metrics.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D119F-2BB7-4B7F-88E0-7668D67EF13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7105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496b9aecda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496b9aecda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g496b9aecda_0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496b9aecda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496b9aecda_0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combine slides 9 - 12</a:t>
            </a:r>
            <a:endParaRPr dirty="0"/>
          </a:p>
        </p:txBody>
      </p:sp>
      <p:sp>
        <p:nvSpPr>
          <p:cNvPr id="121" name="Google Shape;121;g496b9aecda_0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195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792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580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036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586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011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40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708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867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836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70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553069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3682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7504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523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7161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419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1051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SusAbility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dirty="0"/>
              <a:t>A Real-Time Credibility &amp; Content Classification System</a:t>
            </a:r>
          </a:p>
          <a:p>
            <a:r>
              <a:rPr dirty="0"/>
              <a:t>Brian Mungal</a:t>
            </a:r>
          </a:p>
          <a:p>
            <a:r>
              <a:rPr lang="en-US" dirty="0"/>
              <a:t>Capstone</a:t>
            </a:r>
            <a:r>
              <a:rPr dirty="0"/>
              <a:t>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742950" y="723393"/>
            <a:ext cx="7886700" cy="994275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ctr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dirty="0"/>
              <a:t>Outline of Talk</a:t>
            </a:r>
            <a:endParaRPr dirty="0"/>
          </a:p>
        </p:txBody>
      </p:sp>
      <p:sp>
        <p:nvSpPr>
          <p:cNvPr id="92" name="Google Shape;92;p14"/>
          <p:cNvSpPr txBox="1">
            <a:spLocks noGrp="1"/>
          </p:cNvSpPr>
          <p:nvPr>
            <p:ph type="body" idx="1"/>
          </p:nvPr>
        </p:nvSpPr>
        <p:spPr>
          <a:xfrm>
            <a:off x="588769" y="1932150"/>
            <a:ext cx="7886700" cy="3263400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t" anchorCtr="0">
            <a:noAutofit/>
          </a:bodyPr>
          <a:lstStyle/>
          <a:p>
            <a:pPr marL="0" indent="0">
              <a:spcBef>
                <a:spcPts val="750"/>
              </a:spcBef>
              <a:buNone/>
            </a:pPr>
            <a:r>
              <a:rPr lang="en-US"/>
              <a:t>Motivation</a:t>
            </a:r>
            <a:endParaRPr/>
          </a:p>
          <a:p>
            <a:pPr marL="0" indent="0">
              <a:spcBef>
                <a:spcPts val="750"/>
              </a:spcBef>
              <a:buNone/>
            </a:pPr>
            <a:r>
              <a:rPr lang="en-US"/>
              <a:t>Project Description</a:t>
            </a:r>
            <a:endParaRPr/>
          </a:p>
          <a:p>
            <a:pPr marL="0" indent="0">
              <a:spcBef>
                <a:spcPts val="750"/>
              </a:spcBef>
              <a:buNone/>
            </a:pPr>
            <a:r>
              <a:rPr lang="en-US"/>
              <a:t>Background</a:t>
            </a:r>
            <a:endParaRPr/>
          </a:p>
          <a:p>
            <a:pPr marL="0" indent="0">
              <a:spcBef>
                <a:spcPts val="750"/>
              </a:spcBef>
              <a:buNone/>
            </a:pPr>
            <a:r>
              <a:rPr lang="en-US"/>
              <a:t>Requirements </a:t>
            </a:r>
            <a:endParaRPr/>
          </a:p>
          <a:p>
            <a:pPr marL="0" indent="0">
              <a:spcBef>
                <a:spcPts val="750"/>
              </a:spcBef>
              <a:buNone/>
            </a:pPr>
            <a:r>
              <a:rPr lang="en-US"/>
              <a:t>Proposed Process</a:t>
            </a:r>
            <a:endParaRPr/>
          </a:p>
          <a:p>
            <a:pPr marL="0" indent="0">
              <a:spcBef>
                <a:spcPts val="750"/>
              </a:spcBef>
              <a:buNone/>
            </a:pPr>
            <a:r>
              <a:rPr lang="en-US"/>
              <a:t>Required Resources</a:t>
            </a:r>
            <a:endParaRPr/>
          </a:p>
          <a:p>
            <a:pPr marL="0" indent="0">
              <a:spcBef>
                <a:spcPts val="750"/>
              </a:spcBef>
              <a:buNone/>
            </a:pPr>
            <a:r>
              <a:rPr lang="en-US"/>
              <a:t>Testing</a:t>
            </a:r>
            <a:endParaRPr/>
          </a:p>
          <a:p>
            <a:pPr marL="0" indent="0">
              <a:spcBef>
                <a:spcPts val="750"/>
              </a:spcBef>
              <a:buNone/>
            </a:pPr>
            <a:r>
              <a:rPr lang="en-US"/>
              <a:t>Results</a:t>
            </a:r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sldNum" idx="12"/>
          </p:nvPr>
        </p:nvSpPr>
        <p:spPr>
          <a:xfrm>
            <a:off x="7550034" y="5624513"/>
            <a:ext cx="965250" cy="273825"/>
          </a:xfrm>
          <a:prstGeom prst="rect">
            <a:avLst/>
          </a:prstGeom>
        </p:spPr>
        <p:txBody>
          <a:bodyPr spcFirstLastPara="1" vert="horz" wrap="square" lIns="68569" tIns="34275" rIns="68569" bIns="34275" rtlCol="0" anchor="ctr" anchorCtr="0">
            <a:noAutofit/>
          </a:bodyPr>
          <a:lstStyle/>
          <a:p>
            <a:pPr>
              <a:buClr>
                <a:srgbClr val="000000"/>
              </a:buClr>
            </a:pPr>
            <a:fld id="{00000000-1234-1234-1234-123412341234}" type="slidenum">
              <a:rPr lang="en-US"/>
              <a:pPr>
                <a:buClr>
                  <a:srgbClr val="000000"/>
                </a:buClr>
              </a:pPr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title"/>
          </p:nvPr>
        </p:nvSpPr>
        <p:spPr>
          <a:xfrm>
            <a:off x="628650" y="1131094"/>
            <a:ext cx="7886700" cy="994275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ctr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/>
              <a:t>Motivation (you can replace this title)</a:t>
            </a:r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body" idx="1"/>
          </p:nvPr>
        </p:nvSpPr>
        <p:spPr>
          <a:xfrm>
            <a:off x="628650" y="2243138"/>
            <a:ext cx="7886700" cy="3263400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t" anchorCtr="0">
            <a:noAutofit/>
          </a:bodyPr>
          <a:lstStyle/>
          <a:p>
            <a:pPr marL="0" indent="0">
              <a:spcBef>
                <a:spcPts val="750"/>
              </a:spcBef>
              <a:buNone/>
            </a:pPr>
            <a:r>
              <a:rPr lang="en-US"/>
              <a:t>Nice images and brief statements of why this project is important and relevant</a:t>
            </a:r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sldNum" idx="12"/>
          </p:nvPr>
        </p:nvSpPr>
        <p:spPr>
          <a:xfrm>
            <a:off x="7550034" y="5624513"/>
            <a:ext cx="965250" cy="273825"/>
          </a:xfrm>
          <a:prstGeom prst="rect">
            <a:avLst/>
          </a:prstGeom>
        </p:spPr>
        <p:txBody>
          <a:bodyPr spcFirstLastPara="1" vert="horz" wrap="square" lIns="68569" tIns="34275" rIns="68569" bIns="34275" rtlCol="0" anchor="ctr" anchorCtr="0">
            <a:noAutofit/>
          </a:bodyPr>
          <a:lstStyle/>
          <a:p>
            <a:pPr>
              <a:buClr>
                <a:srgbClr val="000000"/>
              </a:buClr>
            </a:pPr>
            <a:fld id="{00000000-1234-1234-1234-123412341234}" type="slidenum">
              <a:rPr lang="en-US"/>
              <a:pPr>
                <a:buClr>
                  <a:srgbClr val="000000"/>
                </a:buClr>
              </a:pPr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>
            <a:spLocks noGrp="1"/>
          </p:cNvSpPr>
          <p:nvPr>
            <p:ph type="title"/>
          </p:nvPr>
        </p:nvSpPr>
        <p:spPr>
          <a:xfrm>
            <a:off x="628650" y="1131094"/>
            <a:ext cx="7886700" cy="994275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ctr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/>
              <a:t>Project Description (Research Question) </a:t>
            </a:r>
            <a:endParaRPr/>
          </a:p>
        </p:txBody>
      </p:sp>
      <p:sp>
        <p:nvSpPr>
          <p:cNvPr id="108" name="Google Shape;108;p16"/>
          <p:cNvSpPr txBox="1">
            <a:spLocks noGrp="1"/>
          </p:cNvSpPr>
          <p:nvPr>
            <p:ph type="body" idx="1"/>
          </p:nvPr>
        </p:nvSpPr>
        <p:spPr>
          <a:xfrm>
            <a:off x="628650" y="2243138"/>
            <a:ext cx="7886700" cy="3263400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t" anchorCtr="0">
            <a:noAutofit/>
          </a:bodyPr>
          <a:lstStyle/>
          <a:p>
            <a:pPr marL="0" indent="0">
              <a:spcBef>
                <a:spcPts val="750"/>
              </a:spcBef>
              <a:buNone/>
            </a:pPr>
            <a:r>
              <a:rPr lang="en-US"/>
              <a:t>What is this project or what question are you investigating</a:t>
            </a:r>
            <a:endParaRPr/>
          </a:p>
        </p:txBody>
      </p:sp>
      <p:sp>
        <p:nvSpPr>
          <p:cNvPr id="109" name="Google Shape;109;p16"/>
          <p:cNvSpPr txBox="1">
            <a:spLocks noGrp="1"/>
          </p:cNvSpPr>
          <p:nvPr>
            <p:ph type="sldNum" idx="12"/>
          </p:nvPr>
        </p:nvSpPr>
        <p:spPr>
          <a:xfrm>
            <a:off x="7550034" y="5624513"/>
            <a:ext cx="965250" cy="273825"/>
          </a:xfrm>
          <a:prstGeom prst="rect">
            <a:avLst/>
          </a:prstGeom>
        </p:spPr>
        <p:txBody>
          <a:bodyPr spcFirstLastPara="1" vert="horz" wrap="square" lIns="68569" tIns="34275" rIns="68569" bIns="34275" rtlCol="0" anchor="ctr" anchorCtr="0">
            <a:noAutofit/>
          </a:bodyPr>
          <a:lstStyle/>
          <a:p>
            <a:pPr>
              <a:buClr>
                <a:srgbClr val="000000"/>
              </a:buClr>
            </a:pPr>
            <a:fld id="{00000000-1234-1234-1234-123412341234}" type="slidenum">
              <a:rPr lang="en-US"/>
              <a:pPr>
                <a:buClr>
                  <a:srgbClr val="000000"/>
                </a:buClr>
              </a:pPr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SusAbility</a:t>
            </a:r>
            <a:r>
              <a:rPr dirty="0"/>
              <a:t> is a browser-based credibility and content classification system.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 struggle to evaluate credibility of online articles.</a:t>
            </a:r>
          </a:p>
          <a:p>
            <a:pPr lvl="1"/>
            <a:r>
              <a:t>Misinformation and biased content lack transparent signals.</a:t>
            </a:r>
          </a:p>
          <a:p>
            <a:pPr lvl="1"/>
            <a:r>
              <a:t>No browser-native tool integrates metadata, citation graphs, and classification models.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>
            <a:spLocks noGrp="1"/>
          </p:cNvSpPr>
          <p:nvPr>
            <p:ph type="title"/>
          </p:nvPr>
        </p:nvSpPr>
        <p:spPr>
          <a:xfrm>
            <a:off x="628650" y="1131094"/>
            <a:ext cx="7886700" cy="994275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ctr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dirty="0"/>
              <a:t>Background (or Literature Review)</a:t>
            </a:r>
            <a:endParaRPr dirty="0"/>
          </a:p>
        </p:txBody>
      </p:sp>
      <p:sp>
        <p:nvSpPr>
          <p:cNvPr id="116" name="Google Shape;116;p17"/>
          <p:cNvSpPr txBox="1">
            <a:spLocks noGrp="1"/>
          </p:cNvSpPr>
          <p:nvPr>
            <p:ph type="body" idx="1"/>
          </p:nvPr>
        </p:nvSpPr>
        <p:spPr>
          <a:xfrm>
            <a:off x="628650" y="2243138"/>
            <a:ext cx="7886700" cy="3263400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t" anchorCtr="0">
            <a:noAutofit/>
          </a:bodyPr>
          <a:lstStyle/>
          <a:p>
            <a:pPr marL="0" indent="0">
              <a:spcBef>
                <a:spcPts val="750"/>
              </a:spcBef>
              <a:buNone/>
            </a:pPr>
            <a:r>
              <a:rPr lang="en-US"/>
              <a:t>One or more slides on previous work …..Nice images</a:t>
            </a:r>
            <a:endParaRPr/>
          </a:p>
        </p:txBody>
      </p:sp>
      <p:sp>
        <p:nvSpPr>
          <p:cNvPr id="117" name="Google Shape;117;p17"/>
          <p:cNvSpPr txBox="1">
            <a:spLocks noGrp="1"/>
          </p:cNvSpPr>
          <p:nvPr>
            <p:ph type="sldNum" idx="12"/>
          </p:nvPr>
        </p:nvSpPr>
        <p:spPr>
          <a:xfrm>
            <a:off x="7550034" y="5624513"/>
            <a:ext cx="965250" cy="273825"/>
          </a:xfrm>
          <a:prstGeom prst="rect">
            <a:avLst/>
          </a:prstGeom>
        </p:spPr>
        <p:txBody>
          <a:bodyPr spcFirstLastPara="1" vert="horz" wrap="square" lIns="68569" tIns="34275" rIns="68569" bIns="34275" rtlCol="0" anchor="ctr" anchorCtr="0">
            <a:noAutofit/>
          </a:bodyPr>
          <a:lstStyle/>
          <a:p>
            <a:pPr>
              <a:buClr>
                <a:srgbClr val="000000"/>
              </a:buClr>
            </a:pPr>
            <a:fld id="{00000000-1234-1234-1234-123412341234}" type="slidenum">
              <a:rPr lang="en-US"/>
              <a:pPr>
                <a:buClr>
                  <a:srgbClr val="000000"/>
                </a:buClr>
              </a:pPr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>
            <a:spLocks noGrp="1"/>
          </p:cNvSpPr>
          <p:nvPr>
            <p:ph type="title"/>
          </p:nvPr>
        </p:nvSpPr>
        <p:spPr>
          <a:xfrm>
            <a:off x="628650" y="1131094"/>
            <a:ext cx="7886700" cy="994275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ctr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/>
              <a:t>Project Requirements/Features</a:t>
            </a:r>
            <a:endParaRPr/>
          </a:p>
        </p:txBody>
      </p:sp>
      <p:sp>
        <p:nvSpPr>
          <p:cNvPr id="124" name="Google Shape;124;p18"/>
          <p:cNvSpPr txBox="1">
            <a:spLocks noGrp="1"/>
          </p:cNvSpPr>
          <p:nvPr>
            <p:ph type="body" idx="1"/>
          </p:nvPr>
        </p:nvSpPr>
        <p:spPr>
          <a:xfrm>
            <a:off x="628650" y="2243138"/>
            <a:ext cx="7886700" cy="3263400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t" anchorCtr="0">
            <a:noAutofit/>
          </a:bodyPr>
          <a:lstStyle/>
          <a:p>
            <a:pPr marL="0" indent="0">
              <a:spcBef>
                <a:spcPts val="750"/>
              </a:spcBef>
              <a:buNone/>
            </a:pPr>
            <a:r>
              <a:rPr lang="en-US"/>
              <a:t>Details on the features of your project</a:t>
            </a:r>
            <a:endParaRPr/>
          </a:p>
        </p:txBody>
      </p:sp>
      <p:sp>
        <p:nvSpPr>
          <p:cNvPr id="125" name="Google Shape;125;p18"/>
          <p:cNvSpPr txBox="1">
            <a:spLocks noGrp="1"/>
          </p:cNvSpPr>
          <p:nvPr>
            <p:ph type="sldNum" idx="12"/>
          </p:nvPr>
        </p:nvSpPr>
        <p:spPr>
          <a:xfrm>
            <a:off x="7550034" y="5624513"/>
            <a:ext cx="965250" cy="273825"/>
          </a:xfrm>
          <a:prstGeom prst="rect">
            <a:avLst/>
          </a:prstGeom>
        </p:spPr>
        <p:txBody>
          <a:bodyPr spcFirstLastPara="1" vert="horz" wrap="square" lIns="68569" tIns="34275" rIns="68569" bIns="34275" rtlCol="0" anchor="ctr" anchorCtr="0">
            <a:noAutofit/>
          </a:bodyPr>
          <a:lstStyle/>
          <a:p>
            <a:pPr>
              <a:buClr>
                <a:srgbClr val="000000"/>
              </a:buClr>
            </a:pPr>
            <a:fld id="{00000000-1234-1234-1234-123412341234}" type="slidenum">
              <a:rPr lang="en-US"/>
              <a:pPr>
                <a:buClr>
                  <a:srgbClr val="000000"/>
                </a:buClr>
              </a:pPr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Script: Extracts title, author, publisher, DOI, references, HTTPS.</a:t>
            </a:r>
          </a:p>
          <a:p>
            <a:pPr lvl="1"/>
            <a:r>
              <a:t>Service Worker: Calls external APIs (CrossRef, Semantic Scholar, RapidAPI).</a:t>
            </a:r>
          </a:p>
          <a:p>
            <a:pPr lvl="1"/>
            <a:r>
              <a:t>Credibility Database: Defines topic baselines and trusted domains.</a:t>
            </a:r>
          </a:p>
          <a:p>
            <a:pPr lvl="1"/>
            <a:r>
              <a:t>Dashboard UI: Displays classification sliders and graph metrics.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Credibility &amp; Topic Classification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Database defines topic baselines (Scientific, Political, Left, Right, Religious).</a:t>
            </a:r>
          </a:p>
          <a:p>
            <a:pPr lvl="1"/>
            <a:r>
              <a:t>Extracted page content compared against baseline profiles.</a:t>
            </a:r>
          </a:p>
          <a:p>
            <a:pPr lvl="1"/>
            <a:r>
              <a:t>Similarity scoring determines article placement on category sliders.</a:t>
            </a:r>
          </a:p>
          <a:p>
            <a:pPr lvl="1"/>
            <a:r>
              <a:t>Visual sliders show relative leaning or scholarly strength.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Graph &amp;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Citation relationships visualized through graph-style metrics.</a:t>
            </a:r>
          </a:p>
          <a:p>
            <a:pPr lvl="1"/>
            <a:r>
              <a:rPr dirty="0"/>
              <a:t>Popularity and citation count integrated via APIs.</a:t>
            </a:r>
          </a:p>
          <a:p>
            <a:pPr lvl="1"/>
            <a:r>
              <a:rPr dirty="0"/>
              <a:t>Author associations and institutional credibility factored in.</a:t>
            </a:r>
          </a:p>
          <a:p>
            <a:pPr lvl="1"/>
            <a:r>
              <a:rPr dirty="0"/>
              <a:t>Trusted-domain comparisons strengthen reliability scoring.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Customizable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76A38-FE1F-6584-1E58-6ABD4E062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086EE-3862-E7E5-3148-DE5DFD8A8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70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Integrated 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CrossRef API – DOI, publisher, scholarly metadata.</a:t>
            </a:r>
          </a:p>
          <a:p>
            <a:pPr lvl="1"/>
            <a:r>
              <a:t>Semantic Scholar API – citation counts, references, fields of study.</a:t>
            </a:r>
          </a:p>
          <a:p>
            <a:pPr lvl="1"/>
            <a:r>
              <a:t>RapidAPI (Text Extract) – content extraction for comparison.</a:t>
            </a:r>
          </a:p>
          <a:p>
            <a:pPr lvl="1"/>
            <a:r>
              <a:t>Internal database – trusted site &amp; topic classification baselines.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30</TotalTime>
  <Words>375</Words>
  <Application>Microsoft Office PowerPoint</Application>
  <PresentationFormat>On-screen Show (4:3)</PresentationFormat>
  <Paragraphs>66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Bookman Old Style</vt:lpstr>
      <vt:lpstr>Rockwell</vt:lpstr>
      <vt:lpstr>Damask</vt:lpstr>
      <vt:lpstr>SusAbility</vt:lpstr>
      <vt:lpstr>Outline of Talk</vt:lpstr>
      <vt:lpstr>Motivation (you can replace this title)</vt:lpstr>
      <vt:lpstr>Project Description (Research Question) </vt:lpstr>
      <vt:lpstr>Project Overview</vt:lpstr>
      <vt:lpstr>Problem Statement</vt:lpstr>
      <vt:lpstr>Background (or Literature Review)</vt:lpstr>
      <vt:lpstr>Project Requirements/Features</vt:lpstr>
      <vt:lpstr>System Architecture</vt:lpstr>
      <vt:lpstr>Credibility &amp; Topic Classification Model</vt:lpstr>
      <vt:lpstr>Graph &amp; Metrics</vt:lpstr>
      <vt:lpstr>Customizable Dashboard</vt:lpstr>
      <vt:lpstr>Demo</vt:lpstr>
      <vt:lpstr>Integrated Data Sources</vt:lpstr>
      <vt:lpstr>Future Enhancements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Brian Mungal</cp:lastModifiedBy>
  <cp:revision>4</cp:revision>
  <dcterms:created xsi:type="dcterms:W3CDTF">2013-01-27T09:14:16Z</dcterms:created>
  <dcterms:modified xsi:type="dcterms:W3CDTF">2026-02-14T02:09:14Z</dcterms:modified>
  <cp:category/>
</cp:coreProperties>
</file>